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17"/>
  </p:notesMasterIdLst>
  <p:handoutMasterIdLst>
    <p:handoutMasterId r:id="rId18"/>
  </p:handoutMasterIdLst>
  <p:sldIdLst>
    <p:sldId id="338" r:id="rId4"/>
    <p:sldId id="340" r:id="rId5"/>
    <p:sldId id="341" r:id="rId6"/>
    <p:sldId id="351" r:id="rId7"/>
    <p:sldId id="352" r:id="rId8"/>
    <p:sldId id="344" r:id="rId9"/>
    <p:sldId id="345" r:id="rId10"/>
    <p:sldId id="347" r:id="rId11"/>
    <p:sldId id="346" r:id="rId12"/>
    <p:sldId id="350" r:id="rId13"/>
    <p:sldId id="353" r:id="rId14"/>
    <p:sldId id="354"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58"/>
    <p:restoredTop sz="95833"/>
  </p:normalViewPr>
  <p:slideViewPr>
    <p:cSldViewPr snapToGrid="0" snapToObjects="1">
      <p:cViewPr varScale="1">
        <p:scale>
          <a:sx n="95" d="100"/>
          <a:sy n="95" d="100"/>
        </p:scale>
        <p:origin x="58"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fld>
            <a:endParaRPr lang="en-US"/>
          </a:p>
        </p:txBody>
      </p:sp>
      <p:pic>
        <p:nvPicPr>
          <p:cNvPr id="7" name="Picture 6"/>
          <p:cNvPicPr>
            <a:picLocks noChangeAspect="1"/>
          </p:cNvPicPr>
          <p:nvPr/>
        </p:nvPicPr>
        <p:blipFill>
          <a:blip r:embed="rId1"/>
          <a:stretch>
            <a:fillRect/>
          </a:stretch>
        </p:blipFill>
        <p:spPr>
          <a:xfrm>
            <a:off x="0" y="0"/>
            <a:ext cx="1116374" cy="458788"/>
          </a:xfrm>
          <a:prstGeom prst="rect">
            <a:avLst/>
          </a:prstGeom>
        </p:spPr>
      </p:pic>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A8F69DF-3812-4E1A-923E-00C131806F24}"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08E3E38E-4E7C-438B-B5C3-90ED8FE108B4}"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FB2F049-FD41-447C-B397-1AAEC49B808E}"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0F3F15A7-C360-4AE5-ADED-E859AC5F350C}"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B15B469D-B584-4523-9F24-AAC07632425A}" type="datetime1">
              <a:rPr lang="en-IN" smtClean="0"/>
            </a:fld>
            <a:endParaRPr lang="en-US"/>
          </a:p>
        </p:txBody>
      </p:sp>
      <p:sp>
        <p:nvSpPr>
          <p:cNvPr id="8" name="Footer Placeholder 7"/>
          <p:cNvSpPr>
            <a:spLocks noGrp="1"/>
          </p:cNvSpPr>
          <p:nvPr>
            <p:ph type="ftr" sz="quarter" idx="11"/>
          </p:nvPr>
        </p:nvSpPr>
        <p:spPr/>
        <p:txBody>
          <a:bodyPr/>
          <a:lstStyle/>
          <a:p>
            <a:r>
              <a:rPr lang="en-US"/>
              <a:t>REVIEW – 1 / 2 / 3    173030211    Department of CSE</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85DF86A-0B23-4D56-9ECB-0EADC5C13D17}" type="datetime1">
              <a:rPr lang="en-IN" smtClean="0"/>
            </a:fld>
            <a:endParaRPr lang="en-US"/>
          </a:p>
        </p:txBody>
      </p:sp>
      <p:sp>
        <p:nvSpPr>
          <p:cNvPr id="4" name="Footer Placeholder 3"/>
          <p:cNvSpPr>
            <a:spLocks noGrp="1"/>
          </p:cNvSpPr>
          <p:nvPr>
            <p:ph type="ftr" sz="quarter" idx="11"/>
          </p:nvPr>
        </p:nvSpPr>
        <p:spPr/>
        <p:txBody>
          <a:bodyPr/>
          <a:lstStyle/>
          <a:p>
            <a:r>
              <a:rPr lang="en-US"/>
              <a:t>REVIEW – 1 / 2 / 3    173030211    Department of CSE</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0EA2DA-481C-4C0B-964F-AF7F7FCA69F3}" type="datetime1">
              <a:rPr lang="en-IN" smtClean="0"/>
            </a:fld>
            <a:endParaRPr lang="en-US"/>
          </a:p>
        </p:txBody>
      </p:sp>
      <p:sp>
        <p:nvSpPr>
          <p:cNvPr id="3" name="Footer Placeholder 2"/>
          <p:cNvSpPr>
            <a:spLocks noGrp="1"/>
          </p:cNvSpPr>
          <p:nvPr>
            <p:ph type="ftr" sz="quarter" idx="11"/>
          </p:nvPr>
        </p:nvSpPr>
        <p:spPr/>
        <p:txBody>
          <a:bodyPr/>
          <a:lstStyle/>
          <a:p>
            <a:r>
              <a:rPr lang="en-US"/>
              <a:t>REVIEW – 1 / 2 / 3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5642F3A7-1C7C-4889-8ADA-8682567CB839}"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DF5D7F15-0596-43A4-A1AE-DCB5F6EC8F81}"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1219B90A-10AE-434A-AB39-8E6304B8158A}"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D743157C-9A58-418C-A682-D75B905A7F7F}"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0ED0D3C2-B8FF-4AB5-969B-088F862956DE}"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686B539-7A9B-4761-A7BE-5973B5F603C5}"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4F117213-ED3E-4FAA-8646-38E7A71B67B4}"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11D3F49A-908B-446A-B6F1-F01798430F9D}"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130341BB-8F05-47D6-BFA8-46DBDF9E68E9}" type="datetime1">
              <a:rPr lang="en-IN" smtClean="0"/>
            </a:fld>
            <a:endParaRPr lang="en-US"/>
          </a:p>
        </p:txBody>
      </p:sp>
      <p:sp>
        <p:nvSpPr>
          <p:cNvPr id="8" name="Footer Placeholder 7"/>
          <p:cNvSpPr>
            <a:spLocks noGrp="1"/>
          </p:cNvSpPr>
          <p:nvPr>
            <p:ph type="ftr" sz="quarter" idx="11"/>
          </p:nvPr>
        </p:nvSpPr>
        <p:spPr/>
        <p:txBody>
          <a:bodyPr/>
          <a:lstStyle/>
          <a:p>
            <a:r>
              <a:rPr lang="en-US"/>
              <a:t>REVIEW – 1 / 2 / 3    173030211    Department of CSE</a:t>
            </a:r>
            <a:endParaRPr lang="en-US"/>
          </a:p>
        </p:txBody>
      </p:sp>
      <p:sp>
        <p:nvSpPr>
          <p:cNvPr id="9" name="Slide Number Placeholder 8"/>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5ACB67-18D3-40BF-BAB8-541A573701E1}"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65A25-45B9-4E31-B775-CA93318FB901}"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535" y="430530"/>
            <a:ext cx="10515600" cy="924560"/>
          </a:xfrm>
        </p:spPr>
        <p:txBody>
          <a:bodyPr>
            <a:noAutofit/>
          </a:bodyPr>
          <a:lstStyle/>
          <a:p>
            <a:pPr algn="ctr">
              <a:lnSpc>
                <a:spcPct val="100000"/>
              </a:lnSpc>
            </a:pPr>
            <a:r>
              <a:rPr lang="en-US" sz="2800" b="1" dirty="0">
                <a:solidFill>
                  <a:srgbClr val="FF0000"/>
                </a:solidFill>
                <a:latin typeface="+mn-lt"/>
                <a:cs typeface="Arial" panose="020B0604020202020204" pitchFamily="34" charset="0"/>
              </a:rPr>
              <a:t>HOSPITAL MANAGEMENT SYSTEM</a:t>
            </a:r>
            <a:endParaRPr lang="en-US" sz="2800" b="1" dirty="0">
              <a:solidFill>
                <a:srgbClr val="FF0000"/>
              </a:solidFill>
              <a:latin typeface="+mn-lt"/>
              <a:cs typeface="Arial" panose="020B0604020202020204" pitchFamily="34" charset="0"/>
            </a:endParaRPr>
          </a:p>
        </p:txBody>
      </p:sp>
      <p:sp>
        <p:nvSpPr>
          <p:cNvPr id="3" name="Content Placeholder 2"/>
          <p:cNvSpPr>
            <a:spLocks noGrp="1"/>
          </p:cNvSpPr>
          <p:nvPr>
            <p:ph sz="half" idx="1"/>
          </p:nvPr>
        </p:nvSpPr>
        <p:spPr>
          <a:xfrm>
            <a:off x="-200" y="1544287"/>
            <a:ext cx="11815010" cy="2761256"/>
          </a:xfrm>
        </p:spPr>
        <p:txBody>
          <a:bodyPr>
            <a:normAutofit lnSpcReduction="10000"/>
          </a:bodyPr>
          <a:lstStyle/>
          <a:p>
            <a:pPr marL="0" indent="0">
              <a:buNone/>
            </a:pPr>
            <a:r>
              <a:rPr lang="en-US" sz="2900" b="1" dirty="0"/>
              <a:t>Student Name </a:t>
            </a:r>
            <a:r>
              <a:rPr lang="en-US" sz="2400" dirty="0"/>
              <a:t>	    </a:t>
            </a:r>
            <a:r>
              <a:rPr lang="en-US" sz="2900" dirty="0"/>
              <a:t>                </a:t>
            </a:r>
            <a:r>
              <a:rPr lang="en-US" sz="2900" b="1" dirty="0"/>
              <a:t>Register Number</a:t>
            </a:r>
            <a:r>
              <a:rPr lang="en-US" sz="2400" dirty="0"/>
              <a:t>		</a:t>
            </a:r>
            <a:r>
              <a:rPr lang="en-US" sz="2900" dirty="0"/>
              <a:t>          </a:t>
            </a:r>
            <a:r>
              <a:rPr lang="en-US" sz="2900" b="1" dirty="0"/>
              <a:t>Section</a:t>
            </a:r>
            <a:endParaRPr lang="en-US" sz="2400" b="1" dirty="0"/>
          </a:p>
          <a:p>
            <a:pPr marL="0" indent="0">
              <a:buNone/>
            </a:pPr>
            <a:r>
              <a:rPr lang="en-US" sz="2400" dirty="0"/>
              <a:t>GOPARAJU S R K AKSHITH                         2510030365                                           S-8</a:t>
            </a:r>
            <a:endParaRPr lang="en-US" sz="2400" dirty="0"/>
          </a:p>
          <a:p>
            <a:pPr marL="0" indent="0">
              <a:buNone/>
            </a:pPr>
            <a:r>
              <a:rPr lang="en-US" sz="2400" dirty="0"/>
              <a:t>ABHILASH                                                     2510030320                                           S-8</a:t>
            </a:r>
            <a:endParaRPr lang="en-US" sz="2400" dirty="0"/>
          </a:p>
          <a:p>
            <a:pPr marL="0" indent="0">
              <a:buNone/>
            </a:pPr>
            <a:r>
              <a:rPr lang="en-US" sz="2400" dirty="0"/>
              <a:t>RUTHVIK                                                       2510030348                                           S-8</a:t>
            </a:r>
            <a:endParaRPr lang="en-US" sz="2400" dirty="0"/>
          </a:p>
          <a:p>
            <a:pPr marL="0" indent="0">
              <a:buNone/>
            </a:pPr>
            <a:r>
              <a:rPr lang="en-US" sz="2400" dirty="0"/>
              <a:t>YESHWANTH                                                2510030357                                           S-8</a:t>
            </a:r>
            <a:endParaRPr lang="en-US" sz="2400" dirty="0"/>
          </a:p>
        </p:txBody>
      </p:sp>
      <p:sp>
        <p:nvSpPr>
          <p:cNvPr id="9" name="Content Placeholder 3"/>
          <p:cNvSpPr txBox="1"/>
          <p:nvPr/>
        </p:nvSpPr>
        <p:spPr>
          <a:xfrm>
            <a:off x="2434715" y="5477247"/>
            <a:ext cx="7973360"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endParaRPr lang="en-US" sz="1800" b="1" dirty="0">
              <a:solidFill>
                <a:srgbClr val="C00000"/>
              </a:solidFill>
            </a:endParaRPr>
          </a:p>
          <a:p>
            <a:pPr marL="0" indent="0">
              <a:buFont typeface="Arial" panose="020B0604020202020204" pitchFamily="34" charset="0"/>
              <a:buNone/>
            </a:pPr>
            <a:endParaRPr lang="en-US" sz="1800" b="1" dirty="0">
              <a:solidFill>
                <a:srgbClr val="0070C0"/>
              </a:solidFill>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52753" y="5333221"/>
            <a:ext cx="2175809" cy="1032698"/>
          </a:xfrm>
          <a:prstGeom prst="rect">
            <a:avLst/>
          </a:prstGeom>
        </p:spPr>
      </p:pic>
      <p:sp>
        <p:nvSpPr>
          <p:cNvPr id="5" name="TextBox 4"/>
          <p:cNvSpPr txBox="1"/>
          <p:nvPr/>
        </p:nvSpPr>
        <p:spPr>
          <a:xfrm>
            <a:off x="1337509" y="4190244"/>
            <a:ext cx="9606295" cy="707886"/>
          </a:xfrm>
          <a:prstGeom prst="rect">
            <a:avLst/>
          </a:prstGeom>
          <a:noFill/>
        </p:spPr>
        <p:txBody>
          <a:bodyPr wrap="square">
            <a:spAutoFit/>
          </a:bodyPr>
          <a:lstStyle/>
          <a:p>
            <a:r>
              <a:rPr lang="en-IN" sz="4000" dirty="0"/>
              <a:t>GUIDED BY : DR. MAHESH BABU ARRAMA</a:t>
            </a:r>
            <a:endParaRPr lang="en-IN"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0"/>
            <a:ext cx="10515600" cy="820781"/>
          </a:xfrm>
        </p:spPr>
        <p:txBody>
          <a:bodyPr/>
          <a:lstStyle/>
          <a:p>
            <a:pPr algn="ctr"/>
            <a:r>
              <a:rPr lang="en-IN" b="1" dirty="0"/>
              <a:t>OBJECTIVE</a:t>
            </a:r>
            <a:endParaRPr lang="en-IN" b="1" dirty="0"/>
          </a:p>
        </p:txBody>
      </p:sp>
      <p:sp>
        <p:nvSpPr>
          <p:cNvPr id="6" name="Content Placeholder 5"/>
          <p:cNvSpPr>
            <a:spLocks noGrp="1"/>
          </p:cNvSpPr>
          <p:nvPr>
            <p:ph sz="half" idx="1"/>
          </p:nvPr>
        </p:nvSpPr>
        <p:spPr>
          <a:xfrm>
            <a:off x="128270" y="836930"/>
            <a:ext cx="7190740" cy="5936615"/>
          </a:xfrm>
        </p:spPr>
        <p:txBody>
          <a:bodyPr>
            <a:noAutofit/>
          </a:bodyPr>
          <a:lstStyle/>
          <a:p>
            <a:r>
              <a:rPr lang="en-US" sz="1900" dirty="0"/>
              <a:t>HOSPITAL MANAGEMENT SYSTEM</a:t>
            </a:r>
            <a:endParaRPr lang="en-US" sz="1900" dirty="0"/>
          </a:p>
          <a:p>
            <a:endParaRPr lang="en-US" sz="1900" dirty="0"/>
          </a:p>
          <a:p>
            <a:r>
              <a:rPr lang="en-US" altLang="en-US" sz="1900" dirty="0"/>
              <a:t>The objective of this project is to design and develop a Hospital Management System using Java that efficiently organizes and manages patient and doctor records through an interactive console-based interface. The system aims to implement core data structures and algorithms such as doubly linked lists, stacks, queues, arrays, and sorting mechanisms to handle complex hospital operations like queueing admissions, tracking visit history, validating prescriptions, and securely saving data to local files.</a:t>
            </a:r>
            <a:endParaRPr lang="en-US" altLang="en-US" sz="1900" dirty="0"/>
          </a:p>
          <a:p>
            <a:r>
              <a:rPr lang="en-US" altLang="en-US" sz="1900" dirty="0"/>
              <a:t>Additionally, the project focuses on providing features such as maintaining patient admission and discharge histories, managing a real-time waiting room queue, and sorting medical staff based on their experience. It also integrates file handling to ensure persistent storage of hospital data and prescription validation functionality for an enhanced administrative experience.</a:t>
            </a:r>
            <a:endParaRPr lang="en-US" altLang="en-US" sz="1900" dirty="0"/>
          </a:p>
          <a:p>
            <a:r>
              <a:rPr lang="en-US" altLang="en-US" sz="1900" dirty="0"/>
              <a:t>Overall, this project demonstrates the practical application of data structures and object-oriented programming concepts in building a real-world software application with robust backend logic and an interactive console-based interface.</a:t>
            </a:r>
            <a:endParaRPr lang="en-US" altLang="en-US" sz="1900" dirty="0"/>
          </a:p>
        </p:txBody>
      </p:sp>
      <p:pic>
        <p:nvPicPr>
          <p:cNvPr id="8" name="Picture 7"/>
          <p:cNvPicPr>
            <a:picLocks noChangeAspect="1"/>
          </p:cNvPicPr>
          <p:nvPr/>
        </p:nvPicPr>
        <p:blipFill>
          <a:blip r:embed="rId1"/>
          <a:stretch>
            <a:fillRect/>
          </a:stretch>
        </p:blipFill>
        <p:spPr>
          <a:xfrm>
            <a:off x="1" y="2"/>
            <a:ext cx="1572126" cy="744228"/>
          </a:xfrm>
          <a:prstGeom prst="rect">
            <a:avLst/>
          </a:prstGeom>
        </p:spPr>
      </p:pic>
      <p:pic>
        <p:nvPicPr>
          <p:cNvPr id="3" name="Content Placeholder 2"/>
          <p:cNvPicPr>
            <a:picLocks noChangeAspect="1"/>
          </p:cNvPicPr>
          <p:nvPr>
            <p:ph sz="half" idx="2"/>
          </p:nvPr>
        </p:nvPicPr>
        <p:blipFill>
          <a:blip r:embed="rId2"/>
          <a:stretch>
            <a:fillRect/>
          </a:stretch>
        </p:blipFill>
        <p:spPr>
          <a:xfrm>
            <a:off x="7364730" y="2014855"/>
            <a:ext cx="4827270" cy="32016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675" y="731520"/>
            <a:ext cx="10515600" cy="517525"/>
          </a:xfrm>
        </p:spPr>
        <p:txBody>
          <a:bodyPr>
            <a:normAutofit fontScale="90000"/>
          </a:bodyPr>
          <a:lstStyle/>
          <a:p>
            <a:pPr algn="ctr"/>
            <a:r>
              <a:rPr lang="en-IN" b="1" dirty="0"/>
              <a:t>PROJECT DESCRIPTION</a:t>
            </a:r>
            <a:endParaRPr lang="en-IN" b="1" dirty="0"/>
          </a:p>
        </p:txBody>
      </p:sp>
      <p:sp>
        <p:nvSpPr>
          <p:cNvPr id="3" name="Content Placeholder 2"/>
          <p:cNvSpPr>
            <a:spLocks noGrp="1"/>
          </p:cNvSpPr>
          <p:nvPr>
            <p:ph idx="1"/>
          </p:nvPr>
        </p:nvSpPr>
        <p:spPr>
          <a:xfrm>
            <a:off x="257175" y="1645920"/>
            <a:ext cx="11837670" cy="4570095"/>
          </a:xfrm>
        </p:spPr>
        <p:txBody>
          <a:bodyPr>
            <a:noAutofit/>
          </a:bodyPr>
          <a:lstStyle/>
          <a:p>
            <a:pPr marL="0" indent="0">
              <a:buFont typeface="Wingdings" panose="05000000000000000000" pitchFamily="2" charset="2"/>
              <a:buNone/>
            </a:pPr>
            <a:r>
              <a:rPr lang="en-US" altLang="en-US" sz="2400" b="1" u="sng" dirty="0"/>
              <a:t>   Hospital Management System</a:t>
            </a:r>
            <a:endParaRPr lang="en-US" altLang="en-US" sz="2400" b="1" u="sng" dirty="0"/>
          </a:p>
          <a:p>
            <a:pPr>
              <a:buFont typeface="Wingdings" panose="05000000000000000000" pitchFamily="2" charset="2"/>
              <a:buChar char="Ø"/>
            </a:pPr>
            <a:endParaRPr lang="en-US" altLang="en-US" sz="2400" b="1" dirty="0"/>
          </a:p>
          <a:p>
            <a:pPr>
              <a:buFont typeface="Wingdings" panose="05000000000000000000" pitchFamily="2" charset="2"/>
              <a:buChar char="Ø"/>
            </a:pPr>
            <a:r>
              <a:rPr lang="en-US" altLang="en-US" sz="2400" b="1" dirty="0"/>
              <a:t>This project is a Java-based application developed to manage and organize patient and doctor records efficiently.</a:t>
            </a:r>
            <a:endParaRPr lang="en-US" altLang="en-US" sz="2400" b="1" dirty="0"/>
          </a:p>
          <a:p>
            <a:pPr>
              <a:buFont typeface="Wingdings" panose="05000000000000000000" pitchFamily="2" charset="2"/>
              <a:buChar char="Ø"/>
            </a:pPr>
            <a:r>
              <a:rPr lang="en-US" altLang="en-US" sz="2400" b="1" dirty="0"/>
              <a:t>It provides an interactive console-based dashboard for easy and seamless administrative interaction.</a:t>
            </a:r>
            <a:endParaRPr lang="en-US" altLang="en-US" sz="2400" b="1" dirty="0"/>
          </a:p>
          <a:p>
            <a:pPr>
              <a:buFont typeface="Wingdings" panose="05000000000000000000" pitchFamily="2" charset="2"/>
              <a:buChar char="Ø"/>
            </a:pPr>
            <a:r>
              <a:rPr lang="en-US" altLang="en-US" sz="2400" b="1" dirty="0"/>
              <a:t>Users can perform operations like queueing, admitting, and discharging patients, as well as searching and sorting medical staff.</a:t>
            </a:r>
            <a:endParaRPr lang="en-US" altLang="en-US" sz="2400" b="1" dirty="0"/>
          </a:p>
          <a:p>
            <a:pPr>
              <a:buFont typeface="Wingdings" panose="05000000000000000000" pitchFamily="2" charset="2"/>
              <a:buChar char="Ø"/>
            </a:pPr>
            <a:r>
              <a:rPr lang="en-US" altLang="en-US" sz="2400" b="1" dirty="0"/>
              <a:t>The system also supports persistent data storage through file handling and stack-based prescription validation.</a:t>
            </a:r>
            <a:endParaRPr lang="en-US" altLang="en-US" sz="2400" b="1" dirty="0"/>
          </a:p>
          <a:p>
            <a:pPr>
              <a:buFont typeface="Wingdings" panose="05000000000000000000" pitchFamily="2" charset="2"/>
              <a:buChar char="Ø"/>
            </a:pPr>
            <a:endParaRPr lang="en-US" altLang="en-US" sz="2400" b="1" dirty="0"/>
          </a:p>
          <a:p>
            <a:pPr>
              <a:buFont typeface="Wingdings" panose="05000000000000000000" pitchFamily="2" charset="2"/>
              <a:buChar char="Ø"/>
            </a:pPr>
            <a:r>
              <a:rPr lang="en-US" altLang="en-US" sz="2400" b="1" dirty="0"/>
              <a:t>Goal  :  To demonstrate the practical use of core data structures, sorting algorithms, and object-oriented programming in building a real-world administrative application.</a:t>
            </a:r>
            <a:endParaRPr lang="en-US" altLang="en-US"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6779" y="1323474"/>
            <a:ext cx="11057021" cy="5166310"/>
          </a:xfrm>
        </p:spPr>
        <p:txBody>
          <a:bodyPr>
            <a:noAutofit/>
          </a:bodyPr>
          <a:lstStyle/>
          <a:p>
            <a:pPr>
              <a:buFont typeface="Wingdings" panose="05000000000000000000" pitchFamily="2" charset="2"/>
              <a:buChar char="Ø"/>
            </a:pPr>
            <a:r>
              <a:rPr lang="en-US" sz="2400" u="sng" dirty="0"/>
              <a:t>Working of the System</a:t>
            </a:r>
            <a:endParaRPr lang="en-US" sz="2400" u="sng" dirty="0"/>
          </a:p>
          <a:p>
            <a:endParaRPr lang="en-US" altLang="en-US" sz="2400" dirty="0"/>
          </a:p>
          <a:p>
            <a:r>
              <a:rPr lang="en-US" altLang="en-US" sz="2400" dirty="0"/>
              <a:t>Patients and visit histories are stored using a Doubly Linked List for dynamic management.</a:t>
            </a:r>
            <a:endParaRPr lang="en-US" altLang="en-US" sz="2400" dirty="0"/>
          </a:p>
          <a:p>
            <a:r>
              <a:rPr lang="en-US" altLang="en-US" sz="2400" dirty="0"/>
              <a:t>Stack is used to validate complex medical prescription formulas (LIFO).</a:t>
            </a:r>
            <a:endParaRPr lang="en-US" altLang="en-US" sz="2400" dirty="0"/>
          </a:p>
          <a:p>
            <a:r>
              <a:rPr lang="en-US" altLang="en-US" sz="2400" dirty="0"/>
              <a:t>Queue is used to manage the patient waiting room admissions (FIFO).</a:t>
            </a:r>
            <a:endParaRPr lang="en-US" altLang="en-US" sz="2400" dirty="0"/>
          </a:p>
          <a:p>
            <a:r>
              <a:rPr lang="en-US" altLang="en-US" sz="2400" dirty="0"/>
              <a:t>Array is used to maintain and organize the staff of doctors.</a:t>
            </a:r>
            <a:endParaRPr lang="en-US" altLang="en-US" sz="2400" dirty="0"/>
          </a:p>
          <a:p>
            <a:endParaRPr lang="en-US" altLang="en-US" sz="2400" dirty="0"/>
          </a:p>
          <a:p>
            <a:r>
              <a:rPr lang="en-US" altLang="en-US" sz="2400" u="sng" dirty="0"/>
              <a:t>Additional Features:</a:t>
            </a:r>
            <a:endParaRPr lang="en-US" altLang="en-US" sz="2400" u="sng" dirty="0"/>
          </a:p>
          <a:p>
            <a:r>
              <a:rPr lang="en-US" altLang="en-US" sz="2400" dirty="0"/>
              <a:t>File handling to persistently save hospital records and data.</a:t>
            </a:r>
            <a:endParaRPr lang="en-US" altLang="en-US" sz="2400" dirty="0"/>
          </a:p>
          <a:p>
            <a:r>
              <a:rPr lang="en-US" altLang="en-US" sz="2400" dirty="0"/>
              <a:t>Sorting &amp; Searching algorithms (Quick Sort and Binary Search) for highly efficient doctor lookup.</a:t>
            </a:r>
            <a:endParaRPr lang="en-US"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547" y="914400"/>
            <a:ext cx="11734800" cy="5767137"/>
          </a:xfrm>
        </p:spPr>
        <p:txBody>
          <a:bodyPr>
            <a:normAutofit fontScale="90000" lnSpcReduction="20000"/>
          </a:bodyPr>
          <a:lstStyle/>
          <a:p>
            <a:pPr>
              <a:buFont typeface="Wingdings" panose="05000000000000000000" pitchFamily="2" charset="2"/>
              <a:buChar char="Ø"/>
            </a:pPr>
            <a:r>
              <a:rPr lang="en-US" dirty="0"/>
              <a:t>Key Features</a:t>
            </a:r>
            <a:endParaRPr lang="en-US" dirty="0"/>
          </a:p>
          <a:p>
            <a:endParaRPr lang="en-US" dirty="0"/>
          </a:p>
          <a:p>
            <a:r>
              <a:rPr lang="en-US" altLang="en-US" dirty="0"/>
              <a:t>Add, delete (discharge), search, and display patients and doctors</a:t>
            </a:r>
            <a:endParaRPr lang="en-US" altLang="en-US" dirty="0"/>
          </a:p>
          <a:p>
            <a:r>
              <a:rPr lang="en-US" altLang="en-US" dirty="0"/>
              <a:t>Admit patients and maintain a continuous visit history</a:t>
            </a:r>
            <a:endParaRPr lang="en-US" altLang="en-US" dirty="0"/>
          </a:p>
          <a:p>
            <a:r>
              <a:rPr lang="en-US" altLang="en-US" dirty="0"/>
              <a:t>Queue system for waiting room admissions</a:t>
            </a:r>
            <a:endParaRPr lang="en-US" altLang="en-US" dirty="0"/>
          </a:p>
          <a:p>
            <a:r>
              <a:rPr lang="en-US" altLang="en-US" dirty="0"/>
              <a:t>Doctors displayed and sorted by experience</a:t>
            </a:r>
            <a:endParaRPr lang="en-US" altLang="en-US" dirty="0"/>
          </a:p>
          <a:p>
            <a:r>
              <a:rPr lang="en-US" altLang="en-US" dirty="0"/>
              <a:t>Simple and interactive console-based dashboard</a:t>
            </a:r>
            <a:endParaRPr lang="en-US" altLang="en-US" dirty="0"/>
          </a:p>
          <a:p>
            <a:endParaRPr lang="en-US" altLang="en-US" dirty="0"/>
          </a:p>
          <a:p>
            <a:endParaRPr lang="en-US" altLang="en-US" dirty="0"/>
          </a:p>
          <a:p>
            <a:pPr marL="0" indent="0">
              <a:buNone/>
            </a:pPr>
            <a:r>
              <a:rPr lang="en-US" altLang="en-US" u="sng" dirty="0">
                <a:sym typeface="+mn-ea"/>
              </a:rPr>
              <a:t>    Conclusion</a:t>
            </a:r>
            <a:endParaRPr lang="en-US" altLang="en-US" u="sng" dirty="0"/>
          </a:p>
          <a:p>
            <a:endParaRPr lang="en-US" altLang="en-US" dirty="0"/>
          </a:p>
          <a:p>
            <a:r>
              <a:rPr lang="en-US" altLang="en-US" dirty="0"/>
              <a:t>This project combines advanced data structures, sorting algorithms, and file handling to create a functional hospital management system, showcasing the real-world application of Java programming concepts.</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56560" y="97445"/>
            <a:ext cx="6096000" cy="646331"/>
          </a:xfrm>
          <a:prstGeom prst="rect">
            <a:avLst/>
          </a:prstGeom>
          <a:noFill/>
        </p:spPr>
        <p:txBody>
          <a:bodyPr wrap="square">
            <a:spAutoFit/>
          </a:bodyPr>
          <a:lstStyle/>
          <a:p>
            <a:r>
              <a:rPr lang="en-US" sz="3600" dirty="0"/>
              <a:t>PROGRAM : </a:t>
            </a:r>
            <a:endParaRPr lang="en-US" sz="3600" dirty="0"/>
          </a:p>
        </p:txBody>
      </p:sp>
      <p:pic>
        <p:nvPicPr>
          <p:cNvPr id="11" name="Picture 10"/>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3619"/>
          <p:cNvPicPr>
            <a:picLocks noChangeAspect="1"/>
          </p:cNvPicPr>
          <p:nvPr/>
        </p:nvPicPr>
        <p:blipFill>
          <a:blip r:embed="rId2"/>
          <a:stretch>
            <a:fillRect/>
          </a:stretch>
        </p:blipFill>
        <p:spPr>
          <a:xfrm>
            <a:off x="0" y="854075"/>
            <a:ext cx="6038215" cy="5223510"/>
          </a:xfrm>
          <a:prstGeom prst="rect">
            <a:avLst/>
          </a:prstGeom>
        </p:spPr>
      </p:pic>
      <p:sp>
        <p:nvSpPr>
          <p:cNvPr id="4" name="Text Box 3"/>
          <p:cNvSpPr txBox="1"/>
          <p:nvPr/>
        </p:nvSpPr>
        <p:spPr>
          <a:xfrm>
            <a:off x="105410" y="6188075"/>
            <a:ext cx="5765165" cy="626110"/>
          </a:xfrm>
          <a:prstGeom prst="rect">
            <a:avLst/>
          </a:prstGeom>
          <a:noFill/>
        </p:spPr>
        <p:txBody>
          <a:bodyPr wrap="square" rtlCol="0">
            <a:noAutofit/>
          </a:bodyPr>
          <a:p>
            <a:r>
              <a:rPr lang="en-US" altLang="en-US"/>
              <a:t>"Implementation of a Doubly Linked Node and insertion method for tracking Patient History."</a:t>
            </a:r>
            <a:endParaRPr lang="en-US" altLang="en-US"/>
          </a:p>
        </p:txBody>
      </p:sp>
      <p:pic>
        <p:nvPicPr>
          <p:cNvPr id="5" name="Picture 4" descr="Screenshot 2026-03-27 223855"/>
          <p:cNvPicPr>
            <a:picLocks noChangeAspect="1"/>
          </p:cNvPicPr>
          <p:nvPr/>
        </p:nvPicPr>
        <p:blipFill>
          <a:blip r:embed="rId3"/>
          <a:stretch>
            <a:fillRect/>
          </a:stretch>
        </p:blipFill>
        <p:spPr>
          <a:xfrm>
            <a:off x="6109335" y="854075"/>
            <a:ext cx="6024245" cy="5222875"/>
          </a:xfrm>
          <a:prstGeom prst="rect">
            <a:avLst/>
          </a:prstGeom>
        </p:spPr>
      </p:pic>
      <p:sp>
        <p:nvSpPr>
          <p:cNvPr id="6" name="Text Box 5"/>
          <p:cNvSpPr txBox="1"/>
          <p:nvPr/>
        </p:nvSpPr>
        <p:spPr>
          <a:xfrm>
            <a:off x="6139815" y="6197600"/>
            <a:ext cx="5682615" cy="690245"/>
          </a:xfrm>
          <a:prstGeom prst="rect">
            <a:avLst/>
          </a:prstGeom>
          <a:noFill/>
        </p:spPr>
        <p:txBody>
          <a:bodyPr wrap="square" rtlCol="0">
            <a:noAutofit/>
          </a:bodyPr>
          <a:p>
            <a:r>
              <a:rPr lang="en-US" altLang="en-US"/>
              <a:t>"Custom FIFO Queue implementation using an Array for the Patient Waiting Room."</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4131"/>
          <p:cNvPicPr>
            <a:picLocks noChangeAspect="1"/>
          </p:cNvPicPr>
          <p:nvPr/>
        </p:nvPicPr>
        <p:blipFill>
          <a:blip r:embed="rId2"/>
          <a:stretch>
            <a:fillRect/>
          </a:stretch>
        </p:blipFill>
        <p:spPr>
          <a:xfrm>
            <a:off x="0" y="834390"/>
            <a:ext cx="5959475" cy="5343525"/>
          </a:xfrm>
          <a:prstGeom prst="rect">
            <a:avLst/>
          </a:prstGeom>
        </p:spPr>
      </p:pic>
      <p:sp>
        <p:nvSpPr>
          <p:cNvPr id="3" name="Text Box 2"/>
          <p:cNvSpPr txBox="1"/>
          <p:nvPr/>
        </p:nvSpPr>
        <p:spPr>
          <a:xfrm>
            <a:off x="55880" y="6268720"/>
            <a:ext cx="5636895" cy="645160"/>
          </a:xfrm>
          <a:prstGeom prst="rect">
            <a:avLst/>
          </a:prstGeom>
          <a:noFill/>
        </p:spPr>
        <p:txBody>
          <a:bodyPr wrap="square" rtlCol="0">
            <a:spAutoFit/>
          </a:bodyPr>
          <a:p>
            <a:r>
              <a:rPr lang="en-US" altLang="en-US"/>
              <a:t>"Custom LIFO Stack implementation used to validate bracket matching in medical formulas."</a:t>
            </a:r>
            <a:endParaRPr lang="en-US" altLang="en-US"/>
          </a:p>
        </p:txBody>
      </p:sp>
      <p:pic>
        <p:nvPicPr>
          <p:cNvPr id="5" name="Picture 4" descr="Screenshot 2026-03-27 224354"/>
          <p:cNvPicPr>
            <a:picLocks noChangeAspect="1"/>
          </p:cNvPicPr>
          <p:nvPr/>
        </p:nvPicPr>
        <p:blipFill>
          <a:blip r:embed="rId3"/>
          <a:stretch>
            <a:fillRect/>
          </a:stretch>
        </p:blipFill>
        <p:spPr>
          <a:xfrm>
            <a:off x="5959475" y="744220"/>
            <a:ext cx="6170295" cy="5426710"/>
          </a:xfrm>
          <a:prstGeom prst="rect">
            <a:avLst/>
          </a:prstGeom>
        </p:spPr>
      </p:pic>
      <p:sp>
        <p:nvSpPr>
          <p:cNvPr id="9" name="Text Box 8"/>
          <p:cNvSpPr txBox="1"/>
          <p:nvPr/>
        </p:nvSpPr>
        <p:spPr>
          <a:xfrm>
            <a:off x="6065520" y="6177915"/>
            <a:ext cx="5559425" cy="645160"/>
          </a:xfrm>
          <a:prstGeom prst="rect">
            <a:avLst/>
          </a:prstGeom>
          <a:noFill/>
        </p:spPr>
        <p:txBody>
          <a:bodyPr wrap="square" rtlCol="0">
            <a:spAutoFit/>
          </a:bodyPr>
          <a:p>
            <a:r>
              <a:rPr lang="en-US" altLang="en-US"/>
              <a:t>"Merge Sort (sorting doctors by experience) and Quick Sort (sorting doctors by ID)."</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4625"/>
          <p:cNvPicPr>
            <a:picLocks noChangeAspect="1"/>
          </p:cNvPicPr>
          <p:nvPr/>
        </p:nvPicPr>
        <p:blipFill>
          <a:blip r:embed="rId2"/>
          <a:stretch>
            <a:fillRect/>
          </a:stretch>
        </p:blipFill>
        <p:spPr>
          <a:xfrm>
            <a:off x="-53340" y="668655"/>
            <a:ext cx="6031865" cy="5529580"/>
          </a:xfrm>
          <a:prstGeom prst="rect">
            <a:avLst/>
          </a:prstGeom>
        </p:spPr>
      </p:pic>
      <p:sp>
        <p:nvSpPr>
          <p:cNvPr id="3" name="Text Box 2"/>
          <p:cNvSpPr txBox="1"/>
          <p:nvPr/>
        </p:nvSpPr>
        <p:spPr>
          <a:xfrm>
            <a:off x="72390" y="6287770"/>
            <a:ext cx="5674995" cy="645160"/>
          </a:xfrm>
          <a:prstGeom prst="rect">
            <a:avLst/>
          </a:prstGeom>
          <a:noFill/>
        </p:spPr>
        <p:txBody>
          <a:bodyPr wrap="square" rtlCol="0">
            <a:spAutoFit/>
          </a:bodyPr>
          <a:p>
            <a:r>
              <a:rPr lang="en-US" altLang="en-US"/>
              <a:t>"Binary Search implementation (O(log n) time complexity) for efficient Doctor ID lookup."</a:t>
            </a:r>
            <a:endParaRPr lang="en-US" altLang="en-US"/>
          </a:p>
        </p:txBody>
      </p:sp>
      <p:pic>
        <p:nvPicPr>
          <p:cNvPr id="4" name="Picture 3" descr="Screenshot 2026-03-27 224746"/>
          <p:cNvPicPr>
            <a:picLocks noChangeAspect="1"/>
          </p:cNvPicPr>
          <p:nvPr/>
        </p:nvPicPr>
        <p:blipFill>
          <a:blip r:embed="rId3"/>
          <a:stretch>
            <a:fillRect/>
          </a:stretch>
        </p:blipFill>
        <p:spPr>
          <a:xfrm>
            <a:off x="5790565" y="635000"/>
            <a:ext cx="6401435" cy="5563235"/>
          </a:xfrm>
          <a:prstGeom prst="rect">
            <a:avLst/>
          </a:prstGeom>
        </p:spPr>
      </p:pic>
      <p:sp>
        <p:nvSpPr>
          <p:cNvPr id="9" name="Text Box 8"/>
          <p:cNvSpPr txBox="1"/>
          <p:nvPr/>
        </p:nvSpPr>
        <p:spPr>
          <a:xfrm>
            <a:off x="5789930" y="6212840"/>
            <a:ext cx="6295390" cy="645160"/>
          </a:xfrm>
          <a:prstGeom prst="rect">
            <a:avLst/>
          </a:prstGeom>
          <a:noFill/>
        </p:spPr>
        <p:txBody>
          <a:bodyPr wrap="square" rtlCol="0">
            <a:spAutoFit/>
          </a:bodyPr>
          <a:p>
            <a:r>
              <a:rPr lang="en-US" altLang="en-US"/>
              <a:t>"Persistent data storage using Java FileWriter, wrapped in Exception Handling to prevent system crashes."</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5138"/>
          <p:cNvPicPr>
            <a:picLocks noChangeAspect="1"/>
          </p:cNvPicPr>
          <p:nvPr/>
        </p:nvPicPr>
        <p:blipFill>
          <a:blip r:embed="rId2"/>
          <a:stretch>
            <a:fillRect/>
          </a:stretch>
        </p:blipFill>
        <p:spPr>
          <a:xfrm>
            <a:off x="-12065" y="769620"/>
            <a:ext cx="6391275" cy="5466080"/>
          </a:xfrm>
          <a:prstGeom prst="rect">
            <a:avLst/>
          </a:prstGeom>
        </p:spPr>
      </p:pic>
      <p:pic>
        <p:nvPicPr>
          <p:cNvPr id="3" name="Picture 2" descr="Screenshot 2026-03-27 225251"/>
          <p:cNvPicPr>
            <a:picLocks noChangeAspect="1"/>
          </p:cNvPicPr>
          <p:nvPr/>
        </p:nvPicPr>
        <p:blipFill>
          <a:blip r:embed="rId3"/>
          <a:stretch>
            <a:fillRect/>
          </a:stretch>
        </p:blipFill>
        <p:spPr>
          <a:xfrm>
            <a:off x="6378575" y="780415"/>
            <a:ext cx="5813425" cy="52228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2758" y="136359"/>
            <a:ext cx="10515600" cy="685632"/>
          </a:xfrm>
        </p:spPr>
        <p:txBody>
          <a:bodyPr>
            <a:normAutofit fontScale="90000"/>
          </a:bodyPr>
          <a:lstStyle/>
          <a:p>
            <a:r>
              <a:rPr lang="en-IN" dirty="0"/>
              <a:t>OUTPUTS : </a:t>
            </a:r>
            <a:endParaRPr lang="en-IN" dirty="0"/>
          </a:p>
        </p:txBody>
      </p:sp>
      <p:pic>
        <p:nvPicPr>
          <p:cNvPr id="11" name="Picture 10"/>
          <p:cNvPicPr>
            <a:picLocks noChangeAspect="1"/>
          </p:cNvPicPr>
          <p:nvPr/>
        </p:nvPicPr>
        <p:blipFill>
          <a:blip r:embed="rId1"/>
          <a:stretch>
            <a:fillRect/>
          </a:stretch>
        </p:blipFill>
        <p:spPr>
          <a:xfrm>
            <a:off x="103496" y="78215"/>
            <a:ext cx="1572904" cy="743776"/>
          </a:xfrm>
          <a:prstGeom prst="rect">
            <a:avLst/>
          </a:prstGeom>
        </p:spPr>
      </p:pic>
      <p:pic>
        <p:nvPicPr>
          <p:cNvPr id="3" name="Picture 2" descr="Screenshot 2026-03-27 225957"/>
          <p:cNvPicPr>
            <a:picLocks noChangeAspect="1"/>
          </p:cNvPicPr>
          <p:nvPr/>
        </p:nvPicPr>
        <p:blipFill>
          <a:blip r:embed="rId2"/>
          <a:stretch>
            <a:fillRect/>
          </a:stretch>
        </p:blipFill>
        <p:spPr>
          <a:xfrm>
            <a:off x="-635" y="821055"/>
            <a:ext cx="9156700" cy="5060950"/>
          </a:xfrm>
          <a:prstGeom prst="rect">
            <a:avLst/>
          </a:prstGeom>
        </p:spPr>
      </p:pic>
      <p:sp>
        <p:nvSpPr>
          <p:cNvPr id="4" name="Text Box 3"/>
          <p:cNvSpPr txBox="1"/>
          <p:nvPr/>
        </p:nvSpPr>
        <p:spPr>
          <a:xfrm>
            <a:off x="132080" y="6083300"/>
            <a:ext cx="8823960" cy="368300"/>
          </a:xfrm>
          <a:prstGeom prst="rect">
            <a:avLst/>
          </a:prstGeom>
          <a:noFill/>
        </p:spPr>
        <p:txBody>
          <a:bodyPr wrap="square" rtlCol="0">
            <a:spAutoFit/>
          </a:bodyPr>
          <a:p>
            <a:r>
              <a:rPr lang="en-US" altLang="en-US"/>
              <a:t>"Demonstrating FIFO Queue management and automated DLL history logging."</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30214"/>
          <p:cNvPicPr>
            <a:picLocks noChangeAspect="1"/>
          </p:cNvPicPr>
          <p:nvPr/>
        </p:nvPicPr>
        <p:blipFill>
          <a:blip r:embed="rId2"/>
          <a:stretch>
            <a:fillRect/>
          </a:stretch>
        </p:blipFill>
        <p:spPr>
          <a:xfrm>
            <a:off x="64770" y="1183640"/>
            <a:ext cx="6125210" cy="4714875"/>
          </a:xfrm>
          <a:prstGeom prst="rect">
            <a:avLst/>
          </a:prstGeom>
        </p:spPr>
      </p:pic>
      <p:pic>
        <p:nvPicPr>
          <p:cNvPr id="4" name="Picture 3" descr="Screenshot 2026-03-27 230315"/>
          <p:cNvPicPr>
            <a:picLocks noChangeAspect="1"/>
          </p:cNvPicPr>
          <p:nvPr/>
        </p:nvPicPr>
        <p:blipFill>
          <a:blip r:embed="rId3"/>
          <a:stretch>
            <a:fillRect/>
          </a:stretch>
        </p:blipFill>
        <p:spPr>
          <a:xfrm>
            <a:off x="5934075" y="1183640"/>
            <a:ext cx="6257925" cy="4714875"/>
          </a:xfrm>
          <a:prstGeom prst="rect">
            <a:avLst/>
          </a:prstGeom>
        </p:spPr>
      </p:pic>
      <p:sp>
        <p:nvSpPr>
          <p:cNvPr id="6" name="Text Box 5"/>
          <p:cNvSpPr txBox="1"/>
          <p:nvPr/>
        </p:nvSpPr>
        <p:spPr>
          <a:xfrm>
            <a:off x="230505" y="6145530"/>
            <a:ext cx="10086975" cy="368300"/>
          </a:xfrm>
          <a:prstGeom prst="rect">
            <a:avLst/>
          </a:prstGeom>
          <a:noFill/>
        </p:spPr>
        <p:txBody>
          <a:bodyPr wrap="square" rtlCol="0">
            <a:spAutoFit/>
          </a:bodyPr>
          <a:p>
            <a:r>
              <a:rPr lang="en-US" altLang="en-US"/>
              <a:t>"Successful execution of Merge Sort for display and Binary Search for lookup."</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30528"/>
          <p:cNvPicPr>
            <a:picLocks noChangeAspect="1"/>
          </p:cNvPicPr>
          <p:nvPr/>
        </p:nvPicPr>
        <p:blipFill>
          <a:blip r:embed="rId2"/>
          <a:stretch>
            <a:fillRect/>
          </a:stretch>
        </p:blipFill>
        <p:spPr>
          <a:xfrm>
            <a:off x="328295" y="1158875"/>
            <a:ext cx="7137400" cy="4777105"/>
          </a:xfrm>
          <a:prstGeom prst="rect">
            <a:avLst/>
          </a:prstGeom>
        </p:spPr>
      </p:pic>
      <p:sp>
        <p:nvSpPr>
          <p:cNvPr id="4" name="Text Box 3"/>
          <p:cNvSpPr txBox="1"/>
          <p:nvPr/>
        </p:nvSpPr>
        <p:spPr>
          <a:xfrm>
            <a:off x="596265" y="6063615"/>
            <a:ext cx="7349490" cy="368300"/>
          </a:xfrm>
          <a:prstGeom prst="rect">
            <a:avLst/>
          </a:prstGeom>
          <a:noFill/>
        </p:spPr>
        <p:txBody>
          <a:bodyPr wrap="square" rtlCol="0">
            <a:spAutoFit/>
          </a:bodyPr>
          <a:p>
            <a:r>
              <a:rPr lang="en-US" altLang="en-US"/>
              <a:t>"Stack-based bracket validation and Infix-to-Postfix conversion."</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endParaRPr lang="en-IN"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4186</Words>
  <Application>WPS Presentation</Application>
  <PresentationFormat>Widescreen</PresentationFormat>
  <Paragraphs>84</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13</vt:i4>
      </vt:variant>
    </vt:vector>
  </HeadingPairs>
  <TitlesOfParts>
    <vt:vector size="22" baseType="lpstr">
      <vt:lpstr>Arial</vt:lpstr>
      <vt:lpstr>SimSun</vt:lpstr>
      <vt:lpstr>Wingdings</vt:lpstr>
      <vt:lpstr>Calibri</vt:lpstr>
      <vt:lpstr>Microsoft YaHei</vt:lpstr>
      <vt:lpstr>Arial Unicode MS</vt:lpstr>
      <vt:lpstr>Calibri Light</vt:lpstr>
      <vt:lpstr>Office Theme</vt:lpstr>
      <vt:lpstr>Custom Design</vt:lpstr>
      <vt:lpstr>MUSIC PLAYLIST</vt:lpstr>
      <vt:lpstr>OBJECTIVE</vt:lpstr>
      <vt:lpstr>PROJECT DESCRIPTION</vt:lpstr>
      <vt:lpstr>PowerPoint 演示文稿</vt:lpstr>
      <vt:lpstr>PowerPoint 演示文稿</vt:lpstr>
      <vt:lpstr>PowerPoint 演示文稿</vt:lpstr>
      <vt:lpstr>PowerPoint 演示文稿</vt:lpstr>
      <vt:lpstr>PowerPoint 演示文稿</vt:lpstr>
      <vt:lpstr>PowerPoint 演示文稿</vt:lpstr>
      <vt:lpstr>OUTPUTS :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Goparaju Akshith</cp:lastModifiedBy>
  <cp:revision>56</cp:revision>
  <dcterms:created xsi:type="dcterms:W3CDTF">2022-05-20T10:20:00Z</dcterms:created>
  <dcterms:modified xsi:type="dcterms:W3CDTF">2026-03-27T17:43:20Z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1033-12.1.0.25830</vt:lpwstr>
  </property>
  <property fmtid="{D5CDD505-2E9C-101B-9397-08002B2CF9AE}" pid="3" name="ICV">
    <vt:lpwstr>07EA91E7BE3B48A3BEFBE50FE55F0526_13</vt:lpwstr>
  </property>
</Properties>
</file>